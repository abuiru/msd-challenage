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 ·  ARCHITECTURE &amp; STRATEGY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Capacity Crisis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Hybrid Cloud Tiering Strategy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short-term survival plan and a durable hot/cold tiering path to AWS — for a primary data center at 85% capacity with a hardware refresh delayed 6 months.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Cloud &amp; Storage Engineering SMEs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2362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Case Study Response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SURVIVAL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Identifying Cold Data Without Touching Production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buy back headroom on SAN + NAS within days, with zero measurable impact to live controller performance.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2219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1945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metadata, not live volumes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508760" y="2679192"/>
            <a:ext cx="4160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last-access / last-modify timestamps from array-native reporting (ONTAP FabricPool policies, SAN analytics, file-system MFT/inode scans) instead of crawling production mounts directly.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7F9FC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22219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0" y="21945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off a snapshot or replica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132320" y="2679192"/>
            <a:ext cx="4160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 deep file-analytics pass (e.g. Komprise, StorageGRID reporting, or a custom crawler) against a read-only snapshot or the AWS DR replica — never the primary export.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7F9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41879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16052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and throttle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508760" y="4645152"/>
            <a:ext cx="4160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during off-peak windows with I/O rate limits on the scan job itself, so it competes for nothing on the production controller's front end.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93192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7F9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428232" y="41879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0" y="416052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a conservative cold-data policy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132320" y="4645152"/>
            <a:ext cx="4160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data with no read/write activity for 90–180 days as tiering candidates; exclude anything under active litigation hold, compliance lock, or app-owner objection.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Capacity Crisis  |  Challenge 1 — Architecture &amp; Strategy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Cloud Architecture: On-Prem → AWS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20116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24358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data (stays on-prem)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91840" y="1298448"/>
            <a:ext cx="201168" cy="201168"/>
          </a:xfrm>
          <a:prstGeom prst="rect">
            <a:avLst/>
          </a:prstGeom>
          <a:solidFill>
            <a:srgbClr val="3FA796"/>
          </a:solidFill>
          <a:ln/>
        </p:spPr>
      </p:sp>
      <p:sp>
        <p:nvSpPr>
          <p:cNvPr id="7" name="Text 5"/>
          <p:cNvSpPr/>
          <p:nvPr/>
        </p:nvSpPr>
        <p:spPr>
          <a:xfrm>
            <a:off x="3547872" y="124358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data (tiered to AWS)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26480" y="1298448"/>
            <a:ext cx="201168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6382512" y="124358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replication path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4160520" cy="4160520"/>
          </a:xfrm>
          <a:prstGeom prst="roundRect">
            <a:avLst>
              <a:gd name="adj" fmla="val 1319"/>
            </a:avLst>
          </a:prstGeom>
          <a:solidFill>
            <a:srgbClr val="F7F9FC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116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DATA CENTER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35240" y="1874520"/>
            <a:ext cx="4096512" cy="4160520"/>
          </a:xfrm>
          <a:prstGeom prst="roundRect">
            <a:avLst>
              <a:gd name="adj" fmla="val 1339"/>
            </a:avLst>
          </a:prstGeom>
          <a:solidFill>
            <a:srgbClr val="EAF2FB"/>
          </a:solidFill>
          <a:ln w="12700">
            <a:solidFill>
              <a:srgbClr val="BBD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2011680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(SECONDARY SITE)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2423160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" y="2496312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6968" y="2880360"/>
            <a:ext cx="14721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 iSCSI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88920" y="242316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2898648" y="2496312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98648" y="2880360"/>
            <a:ext cx="13350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NFS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7240" y="3611880"/>
            <a:ext cx="3566160" cy="822960"/>
          </a:xfrm>
          <a:prstGeom prst="roundRect">
            <a:avLst>
              <a:gd name="adj" fmla="val 6667"/>
            </a:avLst>
          </a:prstGeom>
          <a:solidFill>
            <a:srgbClr val="44506B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" y="3685032"/>
            <a:ext cx="3346704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Gateway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6968" y="4023360"/>
            <a:ext cx="3346704" cy="3703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Storage Gateway (File &amp; Volume)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7240" y="470916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86968" y="4782312"/>
            <a:ext cx="3346704" cy="52806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 Tier (stays local)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6968" y="5189220"/>
            <a:ext cx="3346704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production data — no change in access path or performance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955280" y="2423160"/>
            <a:ext cx="3474720" cy="822960"/>
          </a:xfrm>
          <a:prstGeom prst="roundRect">
            <a:avLst>
              <a:gd name="adj" fmla="val 6667"/>
            </a:avLst>
          </a:prstGeom>
          <a:solidFill>
            <a:srgbClr val="3FA796"/>
          </a:solidFill>
          <a:ln/>
        </p:spPr>
      </p:sp>
      <p:sp>
        <p:nvSpPr>
          <p:cNvPr id="27" name="Text 25"/>
          <p:cNvSpPr/>
          <p:nvPr/>
        </p:nvSpPr>
        <p:spPr>
          <a:xfrm>
            <a:off x="8065008" y="2496312"/>
            <a:ext cx="3255264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FSx / S3 Standard-IA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65008" y="2834640"/>
            <a:ext cx="3255264" cy="3703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cold-tier landing zone — millisecond–minute retrieval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955280" y="3429000"/>
            <a:ext cx="3474720" cy="822960"/>
          </a:xfrm>
          <a:prstGeom prst="roundRect">
            <a:avLst>
              <a:gd name="adj" fmla="val 6667"/>
            </a:avLst>
          </a:prstGeom>
          <a:solidFill>
            <a:srgbClr val="2C8A7E"/>
          </a:solidFill>
          <a:ln/>
        </p:spPr>
      </p:sp>
      <p:sp>
        <p:nvSpPr>
          <p:cNvPr id="30" name="Text 28"/>
          <p:cNvSpPr/>
          <p:nvPr/>
        </p:nvSpPr>
        <p:spPr>
          <a:xfrm>
            <a:off x="8065008" y="3502152"/>
            <a:ext cx="3255264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S3 Glacier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65008" y="3840480"/>
            <a:ext cx="3255264" cy="3703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Deep-archive tier for data cold &gt; 180 days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955280" y="4434840"/>
            <a:ext cx="3474720" cy="1234440"/>
          </a:xfrm>
          <a:prstGeom prst="roundRect">
            <a:avLst>
              <a:gd name="adj" fmla="val 4444"/>
            </a:avLst>
          </a:prstGeom>
          <a:solidFill>
            <a:srgbClr val="E8A33D"/>
          </a:solidFill>
          <a:ln/>
        </p:spPr>
      </p:sp>
      <p:sp>
        <p:nvSpPr>
          <p:cNvPr id="33" name="Text 31"/>
          <p:cNvSpPr/>
          <p:nvPr/>
        </p:nvSpPr>
        <p:spPr>
          <a:xfrm>
            <a:off x="8065008" y="4507992"/>
            <a:ext cx="3255264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Secondary Site (DR)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65008" y="5052060"/>
            <a:ext cx="3255264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replication target for block + file workloads — reused as the DR path, unaffected by tiering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600200" y="3337560"/>
            <a:ext cx="0" cy="274320"/>
          </a:xfrm>
          <a:prstGeom prst="line">
            <a:avLst/>
          </a:prstGeom>
          <a:noFill/>
          <a:ln w="2857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566160" y="3337560"/>
            <a:ext cx="0" cy="274320"/>
          </a:xfrm>
          <a:prstGeom prst="line">
            <a:avLst/>
          </a:prstGeom>
          <a:noFill/>
          <a:ln w="28575">
            <a:solidFill>
              <a:srgbClr val="44506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560320" y="4434840"/>
            <a:ext cx="0" cy="27432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343400" y="3794760"/>
            <a:ext cx="3611880" cy="-1005840"/>
          </a:xfrm>
          <a:prstGeom prst="line">
            <a:avLst/>
          </a:prstGeom>
          <a:noFill/>
          <a:ln w="28575">
            <a:solidFill>
              <a:srgbClr val="3FA796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692640" y="3246120"/>
            <a:ext cx="0" cy="182880"/>
          </a:xfrm>
          <a:prstGeom prst="line">
            <a:avLst/>
          </a:prstGeom>
          <a:noFill/>
          <a:ln w="28575">
            <a:solidFill>
              <a:srgbClr val="2C8A7E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343400" y="5166360"/>
            <a:ext cx="3611880" cy="-18288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Capacity Crisis  |  Challenge 1 — Architecture &amp; Strategy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STAKEHOLDER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Tiering Safely, and Bringing Stakeholders With You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623560" cy="4709160"/>
          </a:xfrm>
          <a:prstGeom prst="roundRect">
            <a:avLst>
              <a:gd name="adj" fmla="val 1165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0992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Tiering Methodology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231136"/>
            <a:ext cx="118872" cy="118872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12140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78992" y="2377440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(SHA-256) every object at source before transfer and again post-write to S3/FSx; log and re-transfer any mismatch before the source copy is ever removed.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822960" y="3255264"/>
            <a:ext cx="118872" cy="118872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145536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expectations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78992" y="3401568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an SLA table to app owners: FSx/S3-IA = ms–seconds; Glacier = 1–12 hrs depending on retrieval tier. Set expectations before, not during, an incident.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22960" y="4279392"/>
            <a:ext cx="118872" cy="118872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416966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cutover, not delete-on-tier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78992" y="4425696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tiered file with a stub/symlink for 30–60 days; the original stays in a low-cost, recoverable state before final deletion.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2960" y="5303520"/>
            <a:ext cx="118872" cy="118872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519379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8992" y="5449824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tiered file can be recalled on read with no application change (transparent stub). If a whole tiering batch misbehaves, batch metadata lets us bulk-recall before the local-copy retention window closes.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446520" y="1508760"/>
            <a:ext cx="5212080" cy="4709160"/>
          </a:xfrm>
          <a:prstGeom prst="roundRect">
            <a:avLst>
              <a:gd name="adj" fmla="val 1165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17099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Stakeholder Communication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20840" y="2231136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976872" y="21214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impact, not architecture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76872" y="2377440"/>
            <a:ext cx="438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C7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app owners what changes for them (occasional retrieval delay on cold reads) before explaining how it works.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720840" y="3255264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6976872" y="314553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Tiered-data registry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76872" y="3401568"/>
            <a:ext cx="438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C7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shared, queryable list of exactly which volumes/paths are tiered, to which class, and since when — no surprises during an audit or incident.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720840" y="4279392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6976872" y="41696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window + opt-out path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976872" y="4425696"/>
            <a:ext cx="438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C7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owners a defined window to flag data that must stay hot (active projects, regulatory holds) before a volume is tiered.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720840" y="5303520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6976872" y="51937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capacity + status digest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976872" y="5449824"/>
            <a:ext cx="438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C7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 to stakeholders: capacity reclaimed, volumes tiered this week, any failed integrity checks — builds trust through visibility.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Capacity Crisis  |  Challenge 1 — Architecture &amp; Strategy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2026-08-09T21:02:52Z</dcterms:created>
  <dcterms:modified xsi:type="dcterms:W3CDTF">2026-08-09T21:02:52Z</dcterms:modified>
</cp:coreProperties>
</file>